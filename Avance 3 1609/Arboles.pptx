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12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1" autoAdjust="0"/>
    <p:restoredTop sz="94660"/>
  </p:normalViewPr>
  <p:slideViewPr>
    <p:cSldViewPr snapToGrid="0">
      <p:cViewPr>
        <p:scale>
          <a:sx n="75" d="100"/>
          <a:sy n="75" d="100"/>
        </p:scale>
        <p:origin x="189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B7E105-671B-53B1-2D1F-449A02910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201AD2-B614-CF80-E260-E222FF181A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EFFD25-5E9B-0AF0-1CDD-2B4C9846F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B6D31-F909-4039-B4CE-5B01BFCC51B8}" type="datetimeFigureOut">
              <a:rPr lang="es-PE" smtClean="0"/>
              <a:t>15/09/2026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551CEF-F18B-EFE6-0C0E-D8E9C3124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21C2F5-F2E3-317F-C097-6035C4A6D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0E7C0-2CD2-4376-AB01-EAF29CF365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2141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7D07AE-47E9-FC6F-BE46-EEE1C033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7F8DC1-AFB5-37BA-C1C8-1D5BE5E10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52FFCB-BE8D-E64A-C53C-80FF4DA6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B6D31-F909-4039-B4CE-5B01BFCC51B8}" type="datetimeFigureOut">
              <a:rPr lang="es-PE" smtClean="0"/>
              <a:t>15/09/2026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315AEA-948D-0F11-3D6C-A45CD28CA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A8C1CC-9D88-C267-A558-8CDAFC5F7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0E7C0-2CD2-4376-AB01-EAF29CF365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0885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0BF3EA-A4CD-C32A-33BE-37B07D9A0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E1D113-0800-59D0-95C0-9F356385B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2787B4-2782-D0FA-2C15-037AABFCB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B6D31-F909-4039-B4CE-5B01BFCC51B8}" type="datetimeFigureOut">
              <a:rPr lang="es-PE" smtClean="0"/>
              <a:t>15/09/2026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C4FF67-98EA-4D6E-BDD1-F31EB26D2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B91EBE-45EE-9CAD-9079-F4488FAD7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0E7C0-2CD2-4376-AB01-EAF29CF365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64966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3AC71B-892A-44E3-E2AD-858B2C0F8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6F2F4D-0F6A-04AD-84FF-FEF6FA0C2F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6600FBE-D6A5-68AE-8328-2683C39D7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E2A71C9-6536-F4E2-B5D9-198FBF5F2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B6D31-F909-4039-B4CE-5B01BFCC51B8}" type="datetimeFigureOut">
              <a:rPr lang="es-PE" smtClean="0"/>
              <a:t>15/09/2026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B683EE7-1B11-1107-FF09-68B65014D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7AA24B-8445-462A-19D2-11355ADE4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0E7C0-2CD2-4376-AB01-EAF29CF365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49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4D8BBC-1239-B3C8-2EC9-87B8033D7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4F456B-DD29-5299-2386-30C4ABD09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0F589BE-43C0-CD14-FA3D-E3024691FE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1CA2271-3CEA-7338-1084-C79E4BAD91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61A8A1B-7EE2-9EFD-90DC-0E91386779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A33ABB7-524D-D1CD-8AE7-644596B2A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B6D31-F909-4039-B4CE-5B01BFCC51B8}" type="datetimeFigureOut">
              <a:rPr lang="es-PE" smtClean="0"/>
              <a:t>15/09/2026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0451B31-CB28-AD81-C6AE-2067F98A0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F257770-9916-C6CF-2DB8-B55E495CF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0E7C0-2CD2-4376-AB01-EAF29CF365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79450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9CD001-7C4E-3B85-BB1F-C2C72F484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60130BD-2067-8862-3428-8E6D0872A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B6D31-F909-4039-B4CE-5B01BFCC51B8}" type="datetimeFigureOut">
              <a:rPr lang="es-PE" smtClean="0"/>
              <a:t>15/09/2026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38B6E1E-9708-4442-8195-2360EE956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4AF1677-1424-3F2A-ABF4-6CC80378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0E7C0-2CD2-4376-AB01-EAF29CF365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14133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8E4A140-9B7C-D37C-766A-57D58FD27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B6D31-F909-4039-B4CE-5B01BFCC51B8}" type="datetimeFigureOut">
              <a:rPr lang="es-PE" smtClean="0"/>
              <a:t>15/09/2026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11809D9-32C7-39E5-D88D-767D127B4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4D244B8-D9C8-3CFE-D0AB-2FF984561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0E7C0-2CD2-4376-AB01-EAF29CF365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95369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003322-A800-C907-2142-5F8FD4B8D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838390-A577-E9F9-ED6A-74046EDE2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48DA4B-1CFE-D161-C38E-5CD282A3A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CBE2932-B16E-3828-DD62-4DA20BA6A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B6D31-F909-4039-B4CE-5B01BFCC51B8}" type="datetimeFigureOut">
              <a:rPr lang="es-PE" smtClean="0"/>
              <a:t>15/09/2026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8BF9F8-FD6B-5375-34D1-D1199D86F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4965527-D2BE-3D1E-283D-CCA9552EB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0E7C0-2CD2-4376-AB01-EAF29CF365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07501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B11F61-1708-D6ED-1486-122BD9C8B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24C6E76-7EC9-B1EB-258C-5F9FF86FC1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3EFE1D0-07A8-7050-98E4-E35D3EBD6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3B94336-0CE4-AC1A-BD2E-6C1994E8B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B6D31-F909-4039-B4CE-5B01BFCC51B8}" type="datetimeFigureOut">
              <a:rPr lang="es-PE" smtClean="0"/>
              <a:t>15/09/2026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4AD699-F012-1EBA-2225-E6D37926F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88CA239-B59F-687E-8A80-45EE6C315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0E7C0-2CD2-4376-AB01-EAF29CF365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95919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1B0176-998F-4839-1793-1C3CC971E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20083A-5469-F935-B436-2B13BE38F1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6B2B82-BBCA-2491-ACCD-B9C3516F1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B6D31-F909-4039-B4CE-5B01BFCC51B8}" type="datetimeFigureOut">
              <a:rPr lang="es-PE" smtClean="0"/>
              <a:t>15/09/2026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96764A-D07D-5703-71E6-7594B4D09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0AA2F9-9703-5032-2C16-3EEDE5B25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0E7C0-2CD2-4376-AB01-EAF29CF365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46429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BC6F61D-47DD-4364-EB31-214A539F2F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B485B52-319B-2187-1D8A-8E3DF110F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DC7C30-A153-3F2D-B38C-64EE386B7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B6D31-F909-4039-B4CE-5B01BFCC51B8}" type="datetimeFigureOut">
              <a:rPr lang="es-PE" smtClean="0"/>
              <a:t>15/09/2026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A92E68-4D7A-8E41-8FF2-5886BB605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0A3F36-F887-3AAA-8EC2-ECE80AAE8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0E7C0-2CD2-4376-AB01-EAF29CF365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82991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67A7855-E1F8-DE16-6B06-53A7D9DCD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D8405C-59E5-3583-4B49-83A786480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48985B-0706-27DE-F21E-DBC0617967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FB6D31-F909-4039-B4CE-5B01BFCC51B8}" type="datetimeFigureOut">
              <a:rPr lang="es-PE" smtClean="0"/>
              <a:t>15/09/2026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C7CEB4-BF63-B522-80B4-5DEAF84057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A64984-B238-8954-A4B6-1D64EEEEAE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70E7C0-2CD2-4376-AB01-EAF29CF365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52119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263C295-11A6-71F0-8C46-D65BAA625656}"/>
              </a:ext>
            </a:extLst>
          </p:cNvPr>
          <p:cNvSpPr/>
          <p:nvPr/>
        </p:nvSpPr>
        <p:spPr>
          <a:xfrm>
            <a:off x="2634615" y="2865120"/>
            <a:ext cx="6922770" cy="112776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Clasificación y derivación manual e ineficiente de documentos administrativo – académicos en la Mesa de Partes Virtual de l</a:t>
            </a:r>
            <a:endParaRPr lang="es-PE" sz="1200"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78210341-2044-FB63-F68D-81C8D341E4A1}"/>
              </a:ext>
            </a:extLst>
          </p:cNvPr>
          <p:cNvSpPr/>
          <p:nvPr/>
        </p:nvSpPr>
        <p:spPr>
          <a:xfrm>
            <a:off x="1838326" y="4448176"/>
            <a:ext cx="2628900" cy="70675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Ausencia de un sistema automatizado de clasificación de documentos</a:t>
            </a:r>
            <a:endParaRPr lang="es-PE" sz="1200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FE5BC4D-3650-1345-C96D-F9B0600B6560}"/>
              </a:ext>
            </a:extLst>
          </p:cNvPr>
          <p:cNvSpPr/>
          <p:nvPr/>
        </p:nvSpPr>
        <p:spPr>
          <a:xfrm>
            <a:off x="4781551" y="4448176"/>
            <a:ext cx="2628900" cy="70675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Dependencia del criterio individual del personal de la UTD para categorizar solicitudes</a:t>
            </a:r>
            <a:endParaRPr lang="es-PE" sz="1200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78280D3-BD06-E93C-74D1-EBE5D9AFDDE9}"/>
              </a:ext>
            </a:extLst>
          </p:cNvPr>
          <p:cNvSpPr/>
          <p:nvPr/>
        </p:nvSpPr>
        <p:spPr>
          <a:xfrm>
            <a:off x="7724776" y="4448176"/>
            <a:ext cx="2628900" cy="70675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/>
              <a:t>Falta de estandarización en el registro de metadatos del trámite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74540563-3297-8ECB-534B-37A4F761F91F}"/>
              </a:ext>
            </a:extLst>
          </p:cNvPr>
          <p:cNvSpPr/>
          <p:nvPr/>
        </p:nvSpPr>
        <p:spPr>
          <a:xfrm>
            <a:off x="1838326" y="1577341"/>
            <a:ext cx="2628900" cy="706754"/>
          </a:xfrm>
          <a:prstGeom prst="roundRect">
            <a:avLst/>
          </a:prstGeom>
          <a:solidFill>
            <a:srgbClr val="60121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Demoras en la atención de solicitudes (SLA elevado)</a:t>
            </a:r>
            <a:endParaRPr lang="es-PE" sz="1200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D861DD6A-6B5F-F557-C4AC-04DA3B34156B}"/>
              </a:ext>
            </a:extLst>
          </p:cNvPr>
          <p:cNvSpPr/>
          <p:nvPr/>
        </p:nvSpPr>
        <p:spPr>
          <a:xfrm>
            <a:off x="4781550" y="1577341"/>
            <a:ext cx="2628900" cy="706754"/>
          </a:xfrm>
          <a:prstGeom prst="roundRect">
            <a:avLst/>
          </a:prstGeom>
          <a:solidFill>
            <a:srgbClr val="60121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Errores de derivación a unidades incorrectas</a:t>
            </a:r>
            <a:endParaRPr lang="es-PE" sz="1200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1A23774A-9E08-A51D-9515-B1D5B06413AA}"/>
              </a:ext>
            </a:extLst>
          </p:cNvPr>
          <p:cNvSpPr/>
          <p:nvPr/>
        </p:nvSpPr>
        <p:spPr>
          <a:xfrm>
            <a:off x="7724775" y="1577341"/>
            <a:ext cx="2628900" cy="706754"/>
          </a:xfrm>
          <a:prstGeom prst="roundRect">
            <a:avLst/>
          </a:prstGeom>
          <a:solidFill>
            <a:srgbClr val="60121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Baja trazabilidad y auditabilidad del proceso</a:t>
            </a:r>
            <a:endParaRPr lang="es-PE" sz="1200" dirty="0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62F53B58-748E-F3EC-496A-C54A0D7105F4}"/>
              </a:ext>
            </a:extLst>
          </p:cNvPr>
          <p:cNvCxnSpPr>
            <a:cxnSpLocks/>
          </p:cNvCxnSpPr>
          <p:nvPr/>
        </p:nvCxnSpPr>
        <p:spPr>
          <a:xfrm>
            <a:off x="3149347" y="2642616"/>
            <a:ext cx="5889878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180D4459-B52D-E85A-1950-AA8115A8ED7D}"/>
              </a:ext>
            </a:extLst>
          </p:cNvPr>
          <p:cNvCxnSpPr>
            <a:stCxn id="4" idx="0"/>
          </p:cNvCxnSpPr>
          <p:nvPr/>
        </p:nvCxnSpPr>
        <p:spPr>
          <a:xfrm flipV="1">
            <a:off x="6096000" y="2642616"/>
            <a:ext cx="0" cy="22250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375A9B62-6C0F-1277-15C0-1F63BAFABA1E}"/>
              </a:ext>
            </a:extLst>
          </p:cNvPr>
          <p:cNvCxnSpPr>
            <a:endCxn id="10" idx="2"/>
          </p:cNvCxnSpPr>
          <p:nvPr/>
        </p:nvCxnSpPr>
        <p:spPr>
          <a:xfrm flipV="1">
            <a:off x="3149347" y="2284095"/>
            <a:ext cx="3429" cy="35852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E737DC29-14D5-7943-B88B-4D19D21CC7D0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6096000" y="2284095"/>
            <a:ext cx="0" cy="35852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54BC585C-AE58-FDF4-4FEC-2DA8B553CD4F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9039225" y="2284095"/>
            <a:ext cx="0" cy="35852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BD2C0510-35E1-96FC-D45D-2A9F08E3162A}"/>
              </a:ext>
            </a:extLst>
          </p:cNvPr>
          <p:cNvCxnSpPr>
            <a:cxnSpLocks/>
          </p:cNvCxnSpPr>
          <p:nvPr/>
        </p:nvCxnSpPr>
        <p:spPr>
          <a:xfrm>
            <a:off x="3149347" y="4215384"/>
            <a:ext cx="5889878" cy="102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BD59157A-FF26-F689-5982-B97809813B90}"/>
              </a:ext>
            </a:extLst>
          </p:cNvPr>
          <p:cNvCxnSpPr>
            <a:cxnSpLocks/>
          </p:cNvCxnSpPr>
          <p:nvPr/>
        </p:nvCxnSpPr>
        <p:spPr>
          <a:xfrm flipV="1">
            <a:off x="6086222" y="3992879"/>
            <a:ext cx="0" cy="2225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86BCBB21-E0ED-7BCF-3D47-2B71EC0257A6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3149347" y="4215384"/>
            <a:ext cx="3429" cy="2327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7589882B-30BE-7BC9-8886-C85BAB300F76}"/>
              </a:ext>
            </a:extLst>
          </p:cNvPr>
          <p:cNvCxnSpPr/>
          <p:nvPr/>
        </p:nvCxnSpPr>
        <p:spPr>
          <a:xfrm>
            <a:off x="6092572" y="4225671"/>
            <a:ext cx="3429" cy="2327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29282CD3-B721-5DA6-600A-D96085C088A6}"/>
              </a:ext>
            </a:extLst>
          </p:cNvPr>
          <p:cNvCxnSpPr/>
          <p:nvPr/>
        </p:nvCxnSpPr>
        <p:spPr>
          <a:xfrm>
            <a:off x="9039226" y="4215383"/>
            <a:ext cx="3429" cy="2327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8875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5EC02-F776-1182-F25A-E936C19DA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C8E2793B-F9E7-6DF6-358B-A115511E133A}"/>
              </a:ext>
            </a:extLst>
          </p:cNvPr>
          <p:cNvSpPr/>
          <p:nvPr/>
        </p:nvSpPr>
        <p:spPr>
          <a:xfrm>
            <a:off x="2634615" y="2865120"/>
            <a:ext cx="6922770" cy="112776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Desarrollar un sistema de clasificación automatizada de documentos administrativo – académico en la Mesa de Partes Virtual de la FISI mediante CNN</a:t>
            </a:r>
            <a:endParaRPr lang="es-PE" sz="1200" dirty="0">
              <a:solidFill>
                <a:schemeClr val="bg1"/>
              </a:solidFill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FB013C9-BECC-9D8C-A4C4-9732887D1AE8}"/>
              </a:ext>
            </a:extLst>
          </p:cNvPr>
          <p:cNvSpPr/>
          <p:nvPr/>
        </p:nvSpPr>
        <p:spPr>
          <a:xfrm>
            <a:off x="1831975" y="4424554"/>
            <a:ext cx="2628900" cy="100964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Implementar un mecanismo automatizado de clasificación de documentos</a:t>
            </a:r>
            <a:endParaRPr lang="es-PE" sz="1200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502B487F-BF21-D247-F368-9218D6231E2B}"/>
              </a:ext>
            </a:extLst>
          </p:cNvPr>
          <p:cNvSpPr/>
          <p:nvPr/>
        </p:nvSpPr>
        <p:spPr>
          <a:xfrm>
            <a:off x="4775200" y="4424555"/>
            <a:ext cx="2628900" cy="100964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200" dirty="0"/>
              <a:t>Desarrollar un modelo de aprendizaje profundo objetivo y consistente</a:t>
            </a:r>
            <a:endParaRPr lang="es-PE" sz="1200" dirty="0">
              <a:solidFill>
                <a:schemeClr val="bg1"/>
              </a:solidFill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55A9ECD-5CE1-E3B6-2B72-0D33708F7DF7}"/>
              </a:ext>
            </a:extLst>
          </p:cNvPr>
          <p:cNvSpPr/>
          <p:nvPr/>
        </p:nvSpPr>
        <p:spPr>
          <a:xfrm>
            <a:off x="7718425" y="4424554"/>
            <a:ext cx="2628900" cy="1009649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Estandarizar el registro de metadatos del trámite</a:t>
            </a:r>
            <a:endParaRPr lang="es-PE" sz="1200" dirty="0">
              <a:solidFill>
                <a:schemeClr val="bg1"/>
              </a:solidFill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C6AAAB4D-7F75-2F0A-F125-1A8640346007}"/>
              </a:ext>
            </a:extLst>
          </p:cNvPr>
          <p:cNvSpPr/>
          <p:nvPr/>
        </p:nvSpPr>
        <p:spPr>
          <a:xfrm>
            <a:off x="1831975" y="1287783"/>
            <a:ext cx="2628900" cy="100964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Reducción de los tiempos de atención de solicitudes (SLA)</a:t>
            </a:r>
            <a:endParaRPr lang="es-PE" sz="1200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7C35D508-0CD8-8EE7-D9FC-639498FA2F1B}"/>
              </a:ext>
            </a:extLst>
          </p:cNvPr>
          <p:cNvSpPr/>
          <p:nvPr/>
        </p:nvSpPr>
        <p:spPr>
          <a:xfrm>
            <a:off x="4775200" y="1287783"/>
            <a:ext cx="2628900" cy="100964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bg1"/>
                </a:solidFill>
              </a:rPr>
              <a:t>Enrutamiento correcto hacia la unidad correspondiente</a:t>
            </a:r>
            <a:endParaRPr lang="es-PE" sz="1200" dirty="0">
              <a:solidFill>
                <a:schemeClr val="bg1"/>
              </a:solidFill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5939D694-F5D5-8956-8D5C-0C021CCCA8EA}"/>
              </a:ext>
            </a:extLst>
          </p:cNvPr>
          <p:cNvSpPr/>
          <p:nvPr/>
        </p:nvSpPr>
        <p:spPr>
          <a:xfrm>
            <a:off x="7718425" y="1287784"/>
            <a:ext cx="2628900" cy="1009647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Trazabilidad y auditoría completa del proceso documental</a:t>
            </a:r>
            <a:endParaRPr lang="es-PE" sz="1200" dirty="0">
              <a:solidFill>
                <a:schemeClr val="bg1"/>
              </a:solidFill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6448000F-393C-AF7B-09A8-BAD148513FB2}"/>
              </a:ext>
            </a:extLst>
          </p:cNvPr>
          <p:cNvCxnSpPr>
            <a:cxnSpLocks/>
          </p:cNvCxnSpPr>
          <p:nvPr/>
        </p:nvCxnSpPr>
        <p:spPr>
          <a:xfrm>
            <a:off x="3142996" y="2655952"/>
            <a:ext cx="5902581" cy="102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1A76182-58A5-E545-8150-3B03E0735039}"/>
              </a:ext>
            </a:extLst>
          </p:cNvPr>
          <p:cNvCxnSpPr/>
          <p:nvPr/>
        </p:nvCxnSpPr>
        <p:spPr>
          <a:xfrm flipV="1">
            <a:off x="6096000" y="2642616"/>
            <a:ext cx="0" cy="2225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7F7DE217-20A6-24A0-3AE6-74F85D53A20A}"/>
              </a:ext>
            </a:extLst>
          </p:cNvPr>
          <p:cNvCxnSpPr/>
          <p:nvPr/>
        </p:nvCxnSpPr>
        <p:spPr>
          <a:xfrm flipV="1">
            <a:off x="3142996" y="2297431"/>
            <a:ext cx="3429" cy="358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FFD52281-F64E-1C9B-F309-7E0200B62327}"/>
              </a:ext>
            </a:extLst>
          </p:cNvPr>
          <p:cNvCxnSpPr>
            <a:cxnSpLocks/>
          </p:cNvCxnSpPr>
          <p:nvPr/>
        </p:nvCxnSpPr>
        <p:spPr>
          <a:xfrm flipV="1">
            <a:off x="6089650" y="2297431"/>
            <a:ext cx="0" cy="358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8D31D3BF-51D1-2248-6190-4054B9368763}"/>
              </a:ext>
            </a:extLst>
          </p:cNvPr>
          <p:cNvCxnSpPr>
            <a:cxnSpLocks/>
          </p:cNvCxnSpPr>
          <p:nvPr/>
        </p:nvCxnSpPr>
        <p:spPr>
          <a:xfrm flipV="1">
            <a:off x="9032875" y="2297431"/>
            <a:ext cx="0" cy="3585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10520269-B2F3-BC55-BF1C-1D2287F6EA2B}"/>
              </a:ext>
            </a:extLst>
          </p:cNvPr>
          <p:cNvCxnSpPr>
            <a:cxnSpLocks/>
          </p:cNvCxnSpPr>
          <p:nvPr/>
        </p:nvCxnSpPr>
        <p:spPr>
          <a:xfrm>
            <a:off x="3142996" y="4202050"/>
            <a:ext cx="590258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A24E9D99-EF9B-A926-DB9A-D1B6DE64B0B4}"/>
              </a:ext>
            </a:extLst>
          </p:cNvPr>
          <p:cNvCxnSpPr>
            <a:cxnSpLocks/>
          </p:cNvCxnSpPr>
          <p:nvPr/>
        </p:nvCxnSpPr>
        <p:spPr>
          <a:xfrm flipV="1">
            <a:off x="6087935" y="3992880"/>
            <a:ext cx="0" cy="2225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0712459-FC91-EC59-F9BE-986D7FF519E8}"/>
              </a:ext>
            </a:extLst>
          </p:cNvPr>
          <p:cNvCxnSpPr>
            <a:cxnSpLocks/>
          </p:cNvCxnSpPr>
          <p:nvPr/>
        </p:nvCxnSpPr>
        <p:spPr>
          <a:xfrm>
            <a:off x="3142996" y="4191763"/>
            <a:ext cx="3429" cy="2327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949CE80A-D79D-5EDE-21D6-12E51A27EA0F}"/>
              </a:ext>
            </a:extLst>
          </p:cNvPr>
          <p:cNvCxnSpPr/>
          <p:nvPr/>
        </p:nvCxnSpPr>
        <p:spPr>
          <a:xfrm>
            <a:off x="6078156" y="4202050"/>
            <a:ext cx="3429" cy="2327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21F296E4-3868-C95B-9229-1E2D7644562F}"/>
              </a:ext>
            </a:extLst>
          </p:cNvPr>
          <p:cNvCxnSpPr/>
          <p:nvPr/>
        </p:nvCxnSpPr>
        <p:spPr>
          <a:xfrm>
            <a:off x="9032875" y="4191762"/>
            <a:ext cx="3429" cy="2327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2615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142</Words>
  <Application>Microsoft Office PowerPoint</Application>
  <PresentationFormat>Panorámica</PresentationFormat>
  <Paragraphs>14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Fabrizio Ortiz Herrera</dc:creator>
  <cp:lastModifiedBy>FABRIZIO PETER ORTIZ HERRERA</cp:lastModifiedBy>
  <cp:revision>7</cp:revision>
  <dcterms:created xsi:type="dcterms:W3CDTF">2026-04-28T20:03:23Z</dcterms:created>
  <dcterms:modified xsi:type="dcterms:W3CDTF">2026-09-15T14:58:09Z</dcterms:modified>
</cp:coreProperties>
</file>