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31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78327" y="1051560"/>
            <a:ext cx="6035040" cy="1828800"/>
          </a:xfrm>
          <a:prstGeom prst="roundRect">
            <a:avLst>
              <a:gd name="adj" fmla="val 6000"/>
            </a:avLst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421" y="1188720"/>
            <a:ext cx="5868852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246120"/>
            <a:ext cx="103628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Sistema de Clasificación Automatizada de</a:t>
            </a:r>
          </a:p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Documentos Administrativo-Académicos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D9B65C"/>
                </a:solidFill>
                <a:latin typeface="Calibri"/>
              </a:rPr>
              <a:t>Red Neuronal Convolucional (CNN) para la Mesa de Partes Virtual — FISI-UNMSM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Avance 3 — Prototipo Funcional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BF7F2"/>
                </a:solidFill>
                <a:latin typeface="Calibri"/>
              </a:rPr>
              <a:t>Fabrizio Peter Ortiz Herrera  |  Facultad de Ingeniería de Sistemas e Informática — UNMSM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3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Contexto y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B65C"/>
                </a:solidFill>
                <a:latin typeface="Calibri"/>
              </a:rPr>
              <a:t>Mesa de Partes Virtual — FISI-UNMSM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UNMSM — FISI | Sistema de Clasificación de Documentos FUT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3333"/>
                </a:solidFill>
                <a:latin typeface="Calibri"/>
              </a:rPr>
              <a:t>La clasificación y derivación de documentos del Formato Único de Trámite (FUT) se realiza de forma manual, generando demoras, errores de derivación y baja trazabilidad.</a:t>
            </a:r>
          </a:p>
        </p:txBody>
      </p:sp>
      <p:pic>
        <p:nvPicPr>
          <p:cNvPr id="9" name="Picture 8" descr="diag_probl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26" y="1965960"/>
            <a:ext cx="10624243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3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Objetivos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UNMSM — FISI | Sistema de Clasificación de Documentos FUT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diag_objeti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53" y="1234440"/>
            <a:ext cx="1067598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3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Decisión Técnica: CNN sobre Texto (TF-IDF)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UNMSM — FISI | Sistema de Clasificación de Documentos FUT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11535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Se evaluaron dos enfoques: clasificar la IMAGEN del documento escaneado (estilo RVL-CDIP, con ResNet/EfficientNet) o clasificar el TEXTO de la solicitud.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Se descartó conscientemente el enfoque de imagen para no depender de la calidad del escaneo y mantener un pipeline más simple y liviano de entrenar.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Se adoptó TF-IDF (scikit-learn) + una CNN 1D (PyTorch) sobre el texto del documento.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 Enfoque alternativo (imagen) documentado y justificado en el Marco Teórico, citando a Harley et al. (2015) y Xu et al. (2020).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23560"/>
            <a:ext cx="10911535" cy="77724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36289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31E19"/>
                </a:solidFill>
                <a:latin typeface="Calibri"/>
              </a:rPr>
              <a:t>Umbral de confianza: 0.60 — scores por debajo del umbral generan una alerta automática de revisión manual.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3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Categorías del FUT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B65C"/>
                </a:solidFill>
                <a:latin typeface="Calibri"/>
              </a:rPr>
              <a:t>5 clases fijas por arquitectura del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UNMSM — FISI | Sistema de Clasificación de Documentos FUT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768096"/>
          </a:xfrm>
          <a:prstGeom prst="rect">
            <a:avLst/>
          </a:prstGeom>
          <a:solidFill>
            <a:srgbClr val="73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3840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731E19"/>
                </a:solidFill>
                <a:latin typeface="Calibri"/>
              </a:rPr>
              <a:t>Certificados de Estudios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417320"/>
            <a:ext cx="661385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33333"/>
                </a:solidFill>
                <a:latin typeface="Calibri"/>
              </a:rPr>
              <a:t>Certificados oficiales con el detalle de cursos y notas por ciclo.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50008"/>
            <a:ext cx="109728" cy="768096"/>
          </a:xfrm>
          <a:prstGeom prst="rect">
            <a:avLst/>
          </a:prstGeom>
          <a:solidFill>
            <a:srgbClr val="A5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50008"/>
            <a:ext cx="3840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731E19"/>
                </a:solidFill>
                <a:latin typeface="Calibri"/>
              </a:rPr>
              <a:t>Constancias Académicas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350008"/>
            <a:ext cx="661385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33333"/>
                </a:solidFill>
                <a:latin typeface="Calibri"/>
              </a:rPr>
              <a:t>Matrícula, notas, orden de mérito, egresado, ingreso.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82696"/>
            <a:ext cx="109728" cy="768096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82696"/>
            <a:ext cx="3840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731E19"/>
                </a:solidFill>
                <a:latin typeface="Calibri"/>
              </a:rPr>
              <a:t>Trámites de Convalidación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282696"/>
            <a:ext cx="661385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33333"/>
                </a:solidFill>
                <a:latin typeface="Calibri"/>
              </a:rPr>
              <a:t>Homologación de cursos de otras universidades o traslados.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15384"/>
            <a:ext cx="109728" cy="768096"/>
          </a:xfrm>
          <a:prstGeom prst="rect">
            <a:avLst/>
          </a:prstGeom>
          <a:solidFill>
            <a:srgbClr val="1B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15384"/>
            <a:ext cx="3840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731E19"/>
                </a:solidFill>
                <a:latin typeface="Calibri"/>
              </a:rPr>
              <a:t>Trámites de Grados y Títulos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215384"/>
            <a:ext cx="661385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33333"/>
                </a:solidFill>
                <a:latin typeface="Calibri"/>
              </a:rPr>
              <a:t>Inscripción de expediente, sustentación, diploma de grado/título.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148072"/>
            <a:ext cx="109728" cy="768096"/>
          </a:xfrm>
          <a:prstGeom prst="rect">
            <a:avLst/>
          </a:prstGeom>
          <a:solidFill>
            <a:srgbClr val="2E5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48072"/>
            <a:ext cx="38404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731E19"/>
                </a:solidFill>
                <a:latin typeface="Calibri"/>
              </a:rPr>
              <a:t>Solicitudes Administrativas Generales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5148072"/>
            <a:ext cx="661385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33333"/>
                </a:solidFill>
                <a:latin typeface="Calibri"/>
              </a:rPr>
              <a:t>Rectificación de datos, duplicados, reservas, otros trámites.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3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B65C"/>
                </a:solidFill>
                <a:latin typeface="Calibri"/>
              </a:rPr>
              <a:t>Tres capas — tal como está implementado en el prototipo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UNMSM — FISI | Sistema de Clasificación de Documentos FUT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73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Capa de Presentación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8424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BF7F2"/>
                </a:solidFill>
                <a:latin typeface="Calibri"/>
              </a:rPr>
              <a:t>FastAPI + interfaz web (HTML/CSS/JS) embebida — formulario de clasificación, métricas, gráficos (Chart.js) y configuración de categorías.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8A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Capa de Procesamiento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7588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BF7F2"/>
                </a:solidFill>
                <a:latin typeface="Calibri"/>
              </a:rPr>
              <a:t>Vectorización TF-IDF (scikit-learn) + CNN 1D (PyTorch) — inferencia: texto → vector → categoría + score + términos clave.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0060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937760"/>
            <a:ext cx="10180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Capa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67528"/>
            <a:ext cx="10180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BF7F2"/>
                </a:solidFill>
                <a:latin typeface="Calibri"/>
              </a:rPr>
              <a:t>SQLite (historial.db) — historial de predicciones, métricas y configuración de categorías (categorias.json).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3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Interfaz Web Principal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B65C"/>
                </a:solidFill>
                <a:latin typeface="Calibri"/>
              </a:rPr>
              <a:t>Formulario de clasificación y resultado con explicabilidad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UNMSM — FISI | Sistema de Clasificación de Documentos FUT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figura8_interf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1188720"/>
            <a:ext cx="6894576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3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Panel de Métricas y Gráficos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B65C"/>
                </a:solidFill>
                <a:latin typeface="Calibri"/>
              </a:rPr>
              <a:t>Distribución por categoría y tiempo de inferencia (Chart.js)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UNMSM — FISI | Sistema de Clasificación de Documentos FUT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figura9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498209"/>
            <a:ext cx="10149840" cy="46845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3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Funcionalidades Destacadas del Prototipo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UNMSM — FISI | Sistema de Clasificación de Documentos FUT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9728" cy="749808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3291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731E19"/>
                </a:solidFill>
                <a:latin typeface="Calibri"/>
              </a:rPr>
              <a:t>Explicabilidad (TF-IDF)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716249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33333"/>
                </a:solidFill>
                <a:latin typeface="Calibri"/>
              </a:rPr>
              <a:t>Cada clasificación devuelve los términos que más influyeron en la predicción.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04288"/>
            <a:ext cx="109728" cy="749808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3291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731E19"/>
                </a:solidFill>
                <a:latin typeface="Calibri"/>
              </a:rPr>
              <a:t>Categorías editables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304288"/>
            <a:ext cx="716249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33333"/>
                </a:solidFill>
                <a:latin typeface="Calibri"/>
              </a:rPr>
              <a:t>Las 5 categorías pueden renombrarse en vivo, sin reentrenar el modelo.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36976"/>
            <a:ext cx="109728" cy="749808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36976"/>
            <a:ext cx="3291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731E19"/>
                </a:solidFill>
                <a:latin typeface="Calibri"/>
              </a:rPr>
              <a:t>Exportación a 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36976"/>
            <a:ext cx="716249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33333"/>
                </a:solidFill>
                <a:latin typeface="Calibri"/>
              </a:rPr>
              <a:t>El historial completo de clasificaciones se puede descargar como CSV.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69664"/>
            <a:ext cx="109728" cy="749808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69664"/>
            <a:ext cx="3291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731E19"/>
                </a:solidFill>
                <a:latin typeface="Calibri"/>
              </a:rPr>
              <a:t>Persistencia SQLite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169664"/>
            <a:ext cx="716249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33333"/>
                </a:solidFill>
                <a:latin typeface="Calibri"/>
              </a:rPr>
              <a:t>El historial y las métricas sobreviven a reinicios del servidor.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102352"/>
            <a:ext cx="109728" cy="749808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02352"/>
            <a:ext cx="3291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731E19"/>
                </a:solidFill>
                <a:latin typeface="Calibri"/>
              </a:rPr>
              <a:t>Alertas de revisión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102352"/>
            <a:ext cx="7162495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33333"/>
                </a:solidFill>
                <a:latin typeface="Calibri"/>
              </a:rPr>
              <a:t>Documentos con score &lt; 0.60 se marcan automáticamente para revisión manual.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3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Diagrama de Casos de 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UNMSM — FISI | Sistema de Clasificación de Documentos FUT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diag_casos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553" y="1188720"/>
            <a:ext cx="807458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3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Tecnologías Utilizadas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UNMSM — FISI | Sistema de Clasificación de Documentos FUT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80160"/>
          <a:ext cx="1091153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985455"/>
              </a:tblGrid>
              <a:tr h="59436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Tecnología</a:t>
                      </a:r>
                    </a:p>
                  </a:txBody>
                  <a:tcPr>
                    <a:solidFill>
                      <a:srgbClr val="731E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Uso en el sistema</a:t>
                      </a:r>
                    </a:p>
                  </a:txBody>
                  <a:tcPr>
                    <a:solidFill>
                      <a:srgbClr val="731E1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3333"/>
                          </a:solidFill>
                          <a:latin typeface="Calibri"/>
                        </a:rPr>
                        <a:t>Python 3.11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3333"/>
                          </a:solidFill>
                          <a:latin typeface="Calibri"/>
                        </a:rPr>
                        <a:t>Lenguaje principal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3333"/>
                          </a:solidFill>
                          <a:latin typeface="Calibri"/>
                        </a:rPr>
                        <a:t>PyTorch</a:t>
                      </a:r>
                    </a:p>
                  </a:txBody>
                  <a:tcPr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3333"/>
                          </a:solidFill>
                          <a:latin typeface="Calibri"/>
                        </a:rPr>
                        <a:t>Arquitectura y entrenamiento de la CNN</a:t>
                      </a:r>
                    </a:p>
                  </a:txBody>
                  <a:tcPr>
                    <a:solidFill>
                      <a:srgbClr val="FBF7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3333"/>
                          </a:solidFill>
                          <a:latin typeface="Calibri"/>
                        </a:rPr>
                        <a:t>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3333"/>
                          </a:solidFill>
                          <a:latin typeface="Calibri"/>
                        </a:rPr>
                        <a:t>Vectorización TF-IDF y métricas de evaluación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3333"/>
                          </a:solidFill>
                          <a:latin typeface="Calibri"/>
                        </a:rPr>
                        <a:t>FastAPI + Uvicorn</a:t>
                      </a:r>
                    </a:p>
                  </a:txBody>
                  <a:tcPr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3333"/>
                          </a:solidFill>
                          <a:latin typeface="Calibri"/>
                        </a:rPr>
                        <a:t>API REST y servidor ASGI</a:t>
                      </a:r>
                    </a:p>
                  </a:txBody>
                  <a:tcPr>
                    <a:solidFill>
                      <a:srgbClr val="FBF7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3333"/>
                          </a:solidFill>
                          <a:latin typeface="Calibri"/>
                        </a:rPr>
                        <a:t>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3333"/>
                          </a:solidFill>
                          <a:latin typeface="Calibri"/>
                        </a:rPr>
                        <a:t>Persistencia del historial y métricas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3333"/>
                          </a:solidFill>
                          <a:latin typeface="Calibri"/>
                        </a:rPr>
                        <a:t>Chart.js</a:t>
                      </a:r>
                    </a:p>
                  </a:txBody>
                  <a:tcPr>
                    <a:solidFill>
                      <a:srgbClr val="FB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3333"/>
                          </a:solidFill>
                          <a:latin typeface="Calibri"/>
                        </a:rPr>
                        <a:t>Gráficos interactivos en la interfaz web</a:t>
                      </a:r>
                    </a:p>
                  </a:txBody>
                  <a:tcPr>
                    <a:solidFill>
                      <a:srgbClr val="FBF7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3333"/>
                          </a:solidFill>
                          <a:latin typeface="Calibri"/>
                        </a:rPr>
                        <a:t>Git y 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3333"/>
                          </a:solidFill>
                          <a:latin typeface="Calibri"/>
                        </a:rPr>
                        <a:t>Control de versiones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UNMSM — FISI | Sistema de Clasificación de Documentos FUT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3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Conclusiones y 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UNMSM — FISI | Sistema de Clasificación de Documentos FUT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902E"/>
                </a:solidFill>
                <a:latin typeface="Calibri"/>
              </a:rPr>
              <a:t>Conclusiones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11535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El prototipo funcional clasifica correctamente documentos FUT en las 5 categorías definidas, con explicabilidad (términos TF-IDF) y umbral de alerta operativos.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La arquitectura TF-IDF + CNN evita la dependencia de calidad de escaneo del enfoque por imagen.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902E"/>
                </a:solidFill>
                <a:latin typeface="Calibri"/>
              </a:rPr>
              <a:t>Próximos pasos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911535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Entrenar y validar el modelo con un dataset real de solicitudes de la Unidad de Trámite Documentario (UTD).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Calcular métricas de evaluación (F1-Score, matriz de confusión) sobre datos reales.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Evaluar migración de SQLite a PostgreSQL para un despliegue institucional en producción.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31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B89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D9B65C"/>
                </a:solidFill>
                <a:latin typeface="Calibri"/>
              </a:rPr>
              <a:t>Fabrizio Peter Ortiz Herrera  —  fabrizio.ortiz@unmsm.edu.pe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BF7F2"/>
                </a:solidFill>
                <a:latin typeface="Calibri"/>
              </a:rPr>
              <a:t>Universidad Nacional Mayor de San Marcos — FISI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